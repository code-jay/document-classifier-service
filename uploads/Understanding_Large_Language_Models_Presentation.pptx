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76FB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276FB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6629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 Language Models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6217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</a:rPr>
              <a:t>From basic concepts to transformer architecture, datasets, GPT, and model-building workflow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0" y="1554480"/>
            <a:ext cx="182880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0" y="2788920"/>
            <a:ext cx="15087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34072" y="2898648"/>
            <a:ext cx="1271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Text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Input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0" y="2788920"/>
            <a:ext cx="15087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62872" y="2898648"/>
            <a:ext cx="1271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Tokens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0" y="4251960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48472" y="4361688"/>
            <a:ext cx="154533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Prediction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75320" y="960120"/>
            <a:ext cx="2377440" cy="1417320"/>
          </a:xfrm>
          <a:prstGeom prst="hexagon">
            <a:avLst/>
          </a:prstGeom>
          <a:solidFill>
            <a:srgbClr val="276FBF">
              <a:alpha val="94000"/>
            </a:srgbClr>
          </a:solidFill>
          <a:ln w="19050">
            <a:solidFill>
              <a:srgbClr val="276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13898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LLM</a:t>
            </a:r>
            <a:endParaRPr lang="en-US" sz="3100" dirty="0"/>
          </a:p>
        </p:txBody>
      </p:sp>
      <p:sp>
        <p:nvSpPr>
          <p:cNvPr id="16" name="Shape 14"/>
          <p:cNvSpPr/>
          <p:nvPr/>
        </p:nvSpPr>
        <p:spPr>
          <a:xfrm>
            <a:off x="8046720" y="2761488"/>
            <a:ext cx="320040" cy="-429768"/>
          </a:xfrm>
          <a:prstGeom prst="line">
            <a:avLst/>
          </a:prstGeom>
          <a:noFill/>
          <a:ln w="2159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93808" y="2761488"/>
            <a:ext cx="0" cy="-429768"/>
          </a:xfrm>
          <a:prstGeom prst="line">
            <a:avLst/>
          </a:prstGeom>
          <a:noFill/>
          <a:ln w="2159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25712" y="4233672"/>
            <a:ext cx="0" cy="-621792"/>
          </a:xfrm>
          <a:prstGeom prst="line">
            <a:avLst/>
          </a:prstGeom>
          <a:noFill/>
          <a:ln w="2159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roadmap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Seven topics from the chapter, arranged as a story: idea -&gt; use cases -&gt; architecture -&gt; building.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691640" y="2971800"/>
            <a:ext cx="4114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00400" y="2971800"/>
            <a:ext cx="4114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09160" y="2971800"/>
            <a:ext cx="4114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2971800"/>
            <a:ext cx="4114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26680" y="2971800"/>
            <a:ext cx="4114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235440" y="2971800"/>
            <a:ext cx="4114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2432304"/>
            <a:ext cx="1051560" cy="1051560"/>
          </a:xfrm>
          <a:prstGeom prst="ellipse">
            <a:avLst/>
          </a:prstGeom>
          <a:solidFill>
            <a:srgbClr val="276FB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2670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" y="3657600"/>
            <a:ext cx="1325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1. What is an LLM?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240280" y="2432304"/>
            <a:ext cx="1051560" cy="1051560"/>
          </a:xfrm>
          <a:prstGeom prst="ellipse">
            <a:avLst/>
          </a:prstGeom>
          <a:solidFill>
            <a:srgbClr val="41D3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670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130552" y="3657600"/>
            <a:ext cx="1325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2. Applications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49040" y="2432304"/>
            <a:ext cx="1051560" cy="10515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2670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39312" y="3657600"/>
            <a:ext cx="1325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3. Build/use stages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57800" y="2432304"/>
            <a:ext cx="1051560" cy="10515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2670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48072" y="3657600"/>
            <a:ext cx="1325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4. Transformer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66560" y="2432304"/>
            <a:ext cx="1051560" cy="10515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2670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56832" y="3657600"/>
            <a:ext cx="1325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5. Large datasets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75320" y="2432304"/>
            <a:ext cx="1051560" cy="10515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77072" y="2670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165592" y="3657600"/>
            <a:ext cx="1325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6. GPT architecture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784080" y="2432304"/>
            <a:ext cx="1051560" cy="10515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85832" y="2670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674352" y="3657600"/>
            <a:ext cx="1325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7. Build an LLM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97280" y="5166360"/>
            <a:ext cx="9875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By the end, students should be able to explain how an LLM predicts the next token, why transformers matter, and what a practical build pipeline looks like.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76FB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276FB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1.1 What is an LLM?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 Large Language Model learns statistical patterns in language and generates text one token at a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194560" y="3246120"/>
            <a:ext cx="1508760" cy="0"/>
          </a:xfrm>
          <a:prstGeom prst="line">
            <a:avLst/>
          </a:prstGeom>
          <a:noFill/>
          <a:ln w="2540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40680" y="3246120"/>
            <a:ext cx="1417320" cy="0"/>
          </a:xfrm>
          <a:prstGeom prst="line">
            <a:avLst/>
          </a:prstGeom>
          <a:noFill/>
          <a:ln w="2540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0" y="3246120"/>
            <a:ext cx="1143000" cy="0"/>
          </a:xfrm>
          <a:prstGeom prst="line">
            <a:avLst/>
          </a:prstGeom>
          <a:noFill/>
          <a:ln w="2540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2578608"/>
            <a:ext cx="1691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688336"/>
            <a:ext cx="1453896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Human text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examples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2578608"/>
            <a:ext cx="1920240" cy="1325880"/>
          </a:xfrm>
          <a:prstGeom prst="roundRect">
            <a:avLst>
              <a:gd name="adj" fmla="val 3448"/>
            </a:avLst>
          </a:prstGeom>
          <a:solidFill>
            <a:srgbClr val="EAF5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2688336"/>
            <a:ext cx="1682496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Training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learns patterns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20840" y="2578608"/>
            <a:ext cx="18288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2688336"/>
            <a:ext cx="1591056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Prompt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from user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46920" y="2578608"/>
            <a:ext cx="1828800" cy="1325880"/>
          </a:xfrm>
          <a:prstGeom prst="roundRect">
            <a:avLst>
              <a:gd name="adj" fmla="val 3448"/>
            </a:avLst>
          </a:prstGeom>
          <a:solidFill>
            <a:srgbClr val="EAF5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65792" y="2688336"/>
            <a:ext cx="1591056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Next-token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prediction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106984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334155"/>
                </a:solidFill>
              </a:rPr>
              <a:t>Large: many parameters and trained on huge datasets</a:t>
            </a:r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</a:rPr>
              <a:t>Language: understands and generates natural language</a:t>
            </a:r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</a:rPr>
              <a:t>Model: a mathematical system that maps input to likely output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1D3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41D3BD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1.2 Applications of LLMs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LLMs are general-purpose language engines that can be adapted to many tasks.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09160" y="2148840"/>
            <a:ext cx="2468880" cy="1325880"/>
          </a:xfrm>
          <a:prstGeom prst="ellipse">
            <a:avLst/>
          </a:prstGeom>
          <a:solidFill>
            <a:srgbClr val="41D3BD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24871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LLM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Core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080760" y="3090672"/>
            <a:ext cx="-3474720" cy="-1261872"/>
          </a:xfrm>
          <a:prstGeom prst="line">
            <a:avLst/>
          </a:prstGeom>
          <a:noFill/>
          <a:ln w="19050">
            <a:solidFill>
              <a:srgbClr val="276FBF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828800" y="141732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1527048"/>
            <a:ext cx="131673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Chatbots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80760" y="3090672"/>
            <a:ext cx="3200400" cy="-1353312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503920" y="132588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22792" y="1435608"/>
            <a:ext cx="131673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Coding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assistant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0760" y="3090672"/>
            <a:ext cx="-4297680" cy="120700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05840" y="388620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3995928"/>
            <a:ext cx="131673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Search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RAG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80760" y="3090672"/>
            <a:ext cx="3474720" cy="1481328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778240" y="416052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97112" y="4270248"/>
            <a:ext cx="131673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Content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creation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80760" y="3090672"/>
            <a:ext cx="-502920" cy="2395728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800600" y="507492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5184648"/>
            <a:ext cx="131673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Translation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6016752"/>
            <a:ext cx="10058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Examples: customer support, summarization, lesson planning, code review, document Q&amp;A, analytics narration, and workflow automation.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1.3 Stages of building and using LLMs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 practical LLM system has a lifecycle from data to deployment and monitoring.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783080" y="3063240"/>
            <a:ext cx="36576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83280" y="3063240"/>
            <a:ext cx="36576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83480" y="3063240"/>
            <a:ext cx="36576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0" y="3063240"/>
            <a:ext cx="36576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83880" y="3063240"/>
            <a:ext cx="36576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784080" y="3063240"/>
            <a:ext cx="36576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2487168"/>
            <a:ext cx="1170432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596896"/>
            <a:ext cx="9326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Collect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data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240280" y="2487168"/>
            <a:ext cx="1170432" cy="1143000"/>
          </a:xfrm>
          <a:prstGeom prst="roundRect">
            <a:avLst>
              <a:gd name="adj" fmla="val 4000"/>
            </a:avLst>
          </a:prstGeom>
          <a:solidFill>
            <a:srgbClr val="FFF8E6"/>
          </a:solidFill>
          <a:ln w="1397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596896"/>
            <a:ext cx="9326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Pre-train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model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840480" y="2487168"/>
            <a:ext cx="1170432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9352" y="2596896"/>
            <a:ext cx="9326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Fine-tune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for task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40680" y="2487168"/>
            <a:ext cx="1170432" cy="1143000"/>
          </a:xfrm>
          <a:prstGeom prst="roundRect">
            <a:avLst>
              <a:gd name="adj" fmla="val 4000"/>
            </a:avLst>
          </a:prstGeom>
          <a:solidFill>
            <a:srgbClr val="FFF8E6"/>
          </a:solidFill>
          <a:ln w="1397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2596896"/>
            <a:ext cx="9326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Align with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feedback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040880" y="2487168"/>
            <a:ext cx="1170432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2596896"/>
            <a:ext cx="9326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Deploy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app/API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641080" y="2487168"/>
            <a:ext cx="1170432" cy="1143000"/>
          </a:xfrm>
          <a:prstGeom prst="roundRect">
            <a:avLst>
              <a:gd name="adj" fmla="val 4000"/>
            </a:avLst>
          </a:prstGeom>
          <a:solidFill>
            <a:srgbClr val="FFF8E6"/>
          </a:solidFill>
          <a:ln w="1397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59952" y="2596896"/>
            <a:ext cx="9326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Monitor &amp;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improve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241280" y="2487168"/>
            <a:ext cx="1170432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60152" y="2596896"/>
            <a:ext cx="9326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Use with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</a:rPr>
              <a:t>prompts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4400" y="4617720"/>
            <a:ext cx="1042416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334155"/>
                </a:solidFill>
              </a:rPr>
              <a:t>Building focuses on data, compute, training, evaluation, and safety.</a:t>
            </a:r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</a:rPr>
              <a:t>Using focuses on prompts, retrieval, tool-calling, guardrails, and user feedback.</a:t>
            </a:r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</a:rPr>
              <a:t>Most businesses use existing foundation models rather than training from scratch.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1.4 Transformer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Transformers replaced sequence-by-sequence processing with attention over the whole context.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417320" y="3273552"/>
            <a:ext cx="13258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51960" y="3273552"/>
            <a:ext cx="11887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12280" y="3273552"/>
            <a:ext cx="11887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464040" y="3273552"/>
            <a:ext cx="11887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2697480"/>
            <a:ext cx="10972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397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07208"/>
            <a:ext cx="85953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Tokens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651760" y="2578608"/>
            <a:ext cx="1691640" cy="1325880"/>
          </a:xfrm>
          <a:prstGeom prst="roundRect">
            <a:avLst>
              <a:gd name="adj" fmla="val 3448"/>
            </a:avLst>
          </a:prstGeom>
          <a:solidFill>
            <a:srgbClr val="F4EEFF"/>
          </a:solidFill>
          <a:ln w="1397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2688336"/>
            <a:ext cx="1453896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Embeddings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+ positions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49240" y="2578608"/>
            <a:ext cx="16002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397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8112" y="2688336"/>
            <a:ext cx="1362456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Multi-head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09560" y="2578608"/>
            <a:ext cx="1691640" cy="1325880"/>
          </a:xfrm>
          <a:prstGeom prst="roundRect">
            <a:avLst>
              <a:gd name="adj" fmla="val 3448"/>
            </a:avLst>
          </a:prstGeom>
          <a:solidFill>
            <a:srgbClr val="F4EEFF"/>
          </a:solidFill>
          <a:ln w="1397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28432" y="2688336"/>
            <a:ext cx="1453896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Feed-forward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network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469880" y="2578608"/>
            <a:ext cx="1234440" cy="1325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397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88752" y="2688336"/>
            <a:ext cx="996696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Output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probabilities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892040"/>
            <a:ext cx="9784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Attention asks: “Which earlier tokens are most useful for predicting the next token?”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38BDF8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Self-attention: the key idea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Each token compares itself with other tokens and collects relevant information.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94A3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645920"/>
            <a:ext cx="676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16002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276FB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1645920"/>
            <a:ext cx="676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94A3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645920"/>
            <a:ext cx="676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94A3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1645920"/>
            <a:ext cx="676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0" y="16002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94A3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9552" y="1645920"/>
            <a:ext cx="676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68880" y="1847088"/>
            <a:ext cx="0" cy="941832"/>
          </a:xfrm>
          <a:prstGeom prst="line">
            <a:avLst/>
          </a:prstGeom>
          <a:noFill/>
          <a:ln w="2540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450592" y="2788920"/>
            <a:ext cx="-1133856" cy="-45720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50592" y="2788920"/>
            <a:ext cx="1207008" cy="-45720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450592" y="2788920"/>
            <a:ext cx="3419856" cy="-457200"/>
          </a:xfrm>
          <a:prstGeom prst="line">
            <a:avLst/>
          </a:prstGeom>
          <a:noFill/>
          <a:ln w="1778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" y="3657600"/>
            <a:ext cx="58521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397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767328"/>
            <a:ext cx="561441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For token “cat”, attention can look at “The”, “sat”, and “mat” to build a richer meaning.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78040" y="1645920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96912" y="1755648"/>
            <a:ext cx="332841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Multi-head attention repeats this with different “views” of meaning.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178040" y="3657600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EAFB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3767328"/>
            <a:ext cx="332841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Result: better context understanding than reading words one-by-one.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22C55E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1.5 Utilizing large datasets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Data quality is as important as data quantity. The goal is broad, clean, useful language patterns.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057400" y="1920240"/>
            <a:ext cx="1828800" cy="59436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57400" y="2971800"/>
            <a:ext cx="1828800" cy="-4572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57400" y="4023360"/>
            <a:ext cx="1828800" cy="-68580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0" y="2926080"/>
            <a:ext cx="182880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1508760"/>
            <a:ext cx="14173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618488"/>
            <a:ext cx="117957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Books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560320"/>
            <a:ext cx="14173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670048"/>
            <a:ext cx="117957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Web pages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611880"/>
            <a:ext cx="14173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721608"/>
            <a:ext cx="117957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Code &amp; docs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2148840"/>
            <a:ext cx="2651760" cy="1554480"/>
          </a:xfrm>
          <a:prstGeom prst="roundRect">
            <a:avLst>
              <a:gd name="adj" fmla="val 2941"/>
            </a:avLst>
          </a:prstGeom>
          <a:solidFill>
            <a:srgbClr val="F0FDF4"/>
          </a:solidFill>
          <a:ln w="1397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67912" y="2258568"/>
            <a:ext cx="2414016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Filter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clean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deduplicate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0" y="2148840"/>
            <a:ext cx="196596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397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2258568"/>
            <a:ext cx="1728216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Training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data mix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5074920"/>
            <a:ext cx="10058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Important checks: remove duplicates, private data, toxic content, low-quality pages, and biased over-representation.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EF4444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1.6 A closer look at GPT architecture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GPT is a decoder-only transformer trained to predict the next token.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828800" y="4572000"/>
            <a:ext cx="15544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0640" y="4572000"/>
            <a:ext cx="146304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321040" y="4572000"/>
            <a:ext cx="141732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3950208"/>
            <a:ext cx="1234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397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4059936"/>
            <a:ext cx="99669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Prompt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tokens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37560" y="118872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FF1F2"/>
          </a:solidFill>
          <a:ln w="1397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298448"/>
            <a:ext cx="1636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Decoder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block x 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37560" y="205740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397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167128"/>
            <a:ext cx="1636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Masked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292608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FF1F2"/>
          </a:solidFill>
          <a:ln w="1397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3035808"/>
            <a:ext cx="1636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Feed-forward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379476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397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3904488"/>
            <a:ext cx="1636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Layer norm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+ residuals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3950208"/>
            <a:ext cx="1965960" cy="1234440"/>
          </a:xfrm>
          <a:prstGeom prst="roundRect">
            <a:avLst>
              <a:gd name="adj" fmla="val 3704"/>
            </a:avLst>
          </a:prstGeom>
          <a:solidFill>
            <a:srgbClr val="FFF1F2"/>
          </a:solidFill>
          <a:ln w="1397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4059936"/>
            <a:ext cx="172821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Vocabulary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probabilities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46920" y="3950208"/>
            <a:ext cx="13258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397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4059936"/>
            <a:ext cx="108813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Next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token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5760720"/>
            <a:ext cx="9966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Masked attention prevents the model from “seeing the future”, so it learns genuine next-token prediction.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76FB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276FBF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1.7 Building a large language model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 real build requires data engineering, model training, evaluation, and responsible deployment.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97480" y="1965960"/>
            <a:ext cx="1783080" cy="0"/>
          </a:xfrm>
          <a:prstGeom prst="line">
            <a:avLst/>
          </a:prstGeom>
          <a:noFill/>
          <a:ln w="2540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97480" y="3611880"/>
            <a:ext cx="1783080" cy="0"/>
          </a:xfrm>
          <a:prstGeom prst="line">
            <a:avLst/>
          </a:prstGeom>
          <a:noFill/>
          <a:ln w="2540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0" y="1965960"/>
            <a:ext cx="1737360" cy="731520"/>
          </a:xfrm>
          <a:prstGeom prst="line">
            <a:avLst/>
          </a:prstGeom>
          <a:noFill/>
          <a:ln w="2540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0" y="3611880"/>
            <a:ext cx="1737360" cy="-548640"/>
          </a:xfrm>
          <a:prstGeom prst="line">
            <a:avLst/>
          </a:prstGeom>
          <a:noFill/>
          <a:ln w="2540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141732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527048"/>
            <a:ext cx="181965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1. Define goal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domain, language, cost, latency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172968"/>
            <a:ext cx="181965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2. Prepare data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collect, clean, tokenize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80560" y="141732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1527048"/>
            <a:ext cx="181965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3. Train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architecture, compute, optimization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0560" y="306324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3172968"/>
            <a:ext cx="181965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4. Evaluate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accuracy, safety, bias, benchmarks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2240280"/>
            <a:ext cx="2057400" cy="1097280"/>
          </a:xfrm>
          <a:prstGeom prst="roundRect">
            <a:avLst>
              <a:gd name="adj" fmla="val 4167"/>
            </a:avLst>
          </a:prstGeom>
          <a:solidFill>
            <a:srgbClr val="EAF5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2350008"/>
            <a:ext cx="181965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5. Deploy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API, monitoring, feedback loop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033"/>
                </a:solidFill>
              </a:rPr>
              <a:t>For most teams, the practical path is: choose a foundation model -&gt; fine-tune or use RAG -&gt; evaluate -&gt; deploy safely.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Evaluation, risks, and responsible use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LLMs are powerful, but they need guardrails because they can be confidently wrong.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397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84248"/>
            <a:ext cx="168249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Hallucination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false facts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87452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397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984248"/>
            <a:ext cx="168249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Bias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from 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23560" y="187452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397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1984248"/>
            <a:ext cx="168249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Privacy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&amp; security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01000" y="1874520"/>
            <a:ext cx="1920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3970">
            <a:solidFill>
              <a:srgbClr val="276FB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1984248"/>
            <a:ext cx="168249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Cost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&amp; latency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3154680"/>
            <a:ext cx="0" cy="105156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06240" y="3154680"/>
            <a:ext cx="0" cy="105156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3154680"/>
            <a:ext cx="0" cy="105156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61120" y="3154680"/>
            <a:ext cx="0" cy="1051560"/>
          </a:xfrm>
          <a:prstGeom prst="line">
            <a:avLst/>
          </a:prstGeom>
          <a:noFill/>
          <a:ln w="25400">
            <a:solidFill>
              <a:srgbClr val="276FB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71600" y="4315968"/>
            <a:ext cx="8961120" cy="960120"/>
          </a:xfrm>
          <a:prstGeom prst="roundRect">
            <a:avLst>
              <a:gd name="adj" fmla="val 4762"/>
            </a:avLst>
          </a:prstGeom>
          <a:solidFill>
            <a:srgbClr val="FFF8E6"/>
          </a:solidFill>
          <a:ln w="1397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90472" y="4425696"/>
            <a:ext cx="8723376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033"/>
                </a:solidFill>
              </a:rPr>
              <a:t>Mitigate with: retrieval, citations, tests, moderation, human review, and monitoring.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50624" y="109728"/>
            <a:ext cx="164592" cy="1234440"/>
          </a:xfrm>
          <a:prstGeom prst="rect">
            <a:avLst/>
          </a:prstGeom>
          <a:solidFill>
            <a:srgbClr val="22C55E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94592" y="438912"/>
            <a:ext cx="164592" cy="960120"/>
          </a:xfrm>
          <a:prstGeom prst="rect">
            <a:avLst/>
          </a:prstGeom>
          <a:solidFill>
            <a:srgbClr val="38BDF8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recap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8778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 simple mental model for understanding Large Language Models.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164592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LLMs learn language patterns from large datasets and generate outputs by predicting the next token.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57400" y="3154680"/>
            <a:ext cx="16916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03520" y="3154680"/>
            <a:ext cx="16916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49640" y="3154680"/>
            <a:ext cx="15087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0120" y="2514600"/>
            <a:ext cx="12801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624328"/>
            <a:ext cx="1042416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Data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2514600"/>
            <a:ext cx="1737360" cy="1143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397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2624328"/>
            <a:ext cx="1499616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Transformer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03720" y="2514600"/>
            <a:ext cx="17373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22592" y="2624328"/>
            <a:ext cx="1499616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Prediction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21240" y="2514600"/>
            <a:ext cx="1325880" cy="1143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3970">
            <a:solidFill>
              <a:srgbClr val="22C55E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40112" y="2624328"/>
            <a:ext cx="1088136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Useful app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4800600"/>
            <a:ext cx="100584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334155"/>
                </a:solidFill>
              </a:rPr>
              <a:t>Transformer attention is the core architecture behind modern LLMs.</a:t>
            </a:r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</a:rPr>
              <a:t>GPT is a decoder-only transformer optimized for next-token prediction.</a:t>
            </a:r>
            <a:endParaRPr lang="en-US" sz="1800" dirty="0"/>
          </a:p>
          <a:p>
            <a:r>
              <a:rPr lang="en-US" sz="1800" dirty="0">
                <a:solidFill>
                  <a:srgbClr val="334155"/>
                </a:solidFill>
              </a:rPr>
              <a:t>Real success comes from good data, evaluation, safety, and useful product design.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283696" y="6419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Altmatic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Large Language Models</dc:title>
  <dc:subject>Understanding Large Language Models</dc:subject>
  <dc:creator>OpenAI</dc:creator>
  <cp:lastModifiedBy>OpenAI</cp:lastModifiedBy>
  <cp:revision>1</cp:revision>
  <dcterms:created xsi:type="dcterms:W3CDTF">2026-05-22T05:13:23Z</dcterms:created>
  <dcterms:modified xsi:type="dcterms:W3CDTF">2026-05-22T05:13:23Z</dcterms:modified>
</cp:coreProperties>
</file>