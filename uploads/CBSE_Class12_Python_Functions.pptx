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Functions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019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7FF"/>
                </a:solidFill>
              </a:rPr>
              <a:t>Class 12 CBSE Computer Science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766560" y="1234440"/>
            <a:ext cx="4023360" cy="182880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"Hello " + name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print(greet("Student"))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5760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function is a named, reusable block of code that performs a specific task.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1EA"/>
                </a:solidFill>
              </a:rPr>
              <a:t>Presenter / Creator: Jay Ram Singh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57607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1EA"/>
                </a:solidFill>
              </a:rPr>
              <a:t>Learning focus: function types, parameters, return values, execution flow and variable scope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By the end, students should be able to write and trace Python functions confidently.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AE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673352"/>
            <a:ext cx="1051560" cy="384048"/>
          </a:xfrm>
          <a:prstGeom prst="roundRect">
            <a:avLst>
              <a:gd name="adj" fmla="val 28571"/>
            </a:avLst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7647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Identify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221992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built-in, module and user-defined functions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150876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AE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9432" y="1673352"/>
            <a:ext cx="1051560" cy="384048"/>
          </a:xfrm>
          <a:prstGeom prst="roundRect">
            <a:avLst>
              <a:gd name="adj" fmla="val 28571"/>
            </a:avLst>
          </a:prstGeom>
          <a:solidFill>
            <a:srgbClr val="21A67A"/>
          </a:solidFill>
          <a:ln w="12700">
            <a:solidFill>
              <a:srgbClr val="21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17647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2221992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a function using def and call it correctly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0" y="150876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AE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4192" y="1673352"/>
            <a:ext cx="1051560" cy="384048"/>
          </a:xfrm>
          <a:prstGeom prst="roundRect">
            <a:avLst>
              <a:gd name="adj" fmla="val 28571"/>
            </a:avLst>
          </a:prstGeom>
          <a:solidFill>
            <a:srgbClr val="F6B84B"/>
          </a:solidFill>
          <a:ln w="12700">
            <a:solidFill>
              <a:srgbClr val="F6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17647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2221992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positional and default parameters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BFCFF"/>
          </a:solidFill>
          <a:ln w="12700">
            <a:solidFill>
              <a:srgbClr val="DAE2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547872"/>
            <a:ext cx="1051560" cy="384048"/>
          </a:xfrm>
          <a:prstGeom prst="roundRect">
            <a:avLst>
              <a:gd name="adj" fmla="val 28571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63931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Return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096512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one or more values from a function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34840" y="338328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BFCFF"/>
          </a:solidFill>
          <a:ln w="12700">
            <a:solidFill>
              <a:srgbClr val="DAE2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3547872"/>
            <a:ext cx="1051560" cy="384048"/>
          </a:xfrm>
          <a:prstGeom prst="roundRect">
            <a:avLst>
              <a:gd name="adj" fmla="val 28571"/>
            </a:avLst>
          </a:prstGeom>
          <a:solidFill>
            <a:srgbClr val="EA5455"/>
          </a:solidFill>
          <a:ln w="12700">
            <a:solidFill>
              <a:srgbClr val="EA54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363931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4096512"/>
            <a:ext cx="2788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033"/>
                </a:solidFill>
              </a:rPr>
              <a:t>flow of execution and variable scope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Function?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Think of a function as an input -&gt; process -&gt; output machine.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2926080"/>
            <a:ext cx="1783080" cy="0"/>
          </a:xfrm>
          <a:prstGeom prst="line">
            <a:avLst/>
          </a:prstGeom>
          <a:noFill/>
          <a:ln w="25400">
            <a:solidFill>
              <a:srgbClr val="5C647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89320" y="2926080"/>
            <a:ext cx="1783080" cy="0"/>
          </a:xfrm>
          <a:prstGeom prst="line">
            <a:avLst/>
          </a:prstGeom>
          <a:noFill/>
          <a:ln w="25400">
            <a:solidFill>
              <a:srgbClr val="5C647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21488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EAF1FF"/>
          </a:solidFill>
          <a:ln w="12700">
            <a:solidFill>
              <a:srgbClr val="BF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786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Input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arguments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86200" y="1965960"/>
            <a:ext cx="2103120" cy="1920240"/>
          </a:xfrm>
          <a:prstGeom prst="roundRect">
            <a:avLst>
              <a:gd name="adj" fmla="val 5714"/>
            </a:avLst>
          </a:prstGeom>
          <a:solidFill>
            <a:srgbClr val="EAFBF4"/>
          </a:solidFill>
          <a:ln w="12700">
            <a:solidFill>
              <a:srgbClr val="B9E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25328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A67A"/>
                </a:solidFill>
              </a:rPr>
              <a:t>Function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1A67A"/>
                </a:solidFill>
              </a:rPr>
              <a:t>code block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818120" y="214884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6E1"/>
          </a:solidFill>
          <a:ln w="12700">
            <a:solidFill>
              <a:srgbClr val="F6D8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25786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7900"/>
                </a:solidFill>
              </a:rPr>
              <a:t>Output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B87900"/>
                </a:solidFill>
              </a:rPr>
              <a:t>return value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489204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square(n):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square(5)  # 25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4526280"/>
            <a:ext cx="429768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Makes code reusable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Breaks a big problem into smaller parts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Improves readability and testing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 of Functions in Python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Class 12 usually focuses on three practical categories.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3337560" cy="370332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A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7452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Built-in functions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2377440"/>
            <a:ext cx="28163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33"/>
                </a:solidFill>
              </a:rPr>
              <a:t>Already available in Python. No import needed.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3154680"/>
            <a:ext cx="2926080" cy="132588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print(), input(), len(), type(), int(), sum()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3337560" cy="370332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A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87452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Functions defined in modules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81728" y="2377440"/>
            <a:ext cx="28163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33"/>
                </a:solidFill>
              </a:rPr>
              <a:t>Available after importing a module.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81728" y="3154680"/>
            <a:ext cx="2926080" cy="132588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math.sqrt(), random.randint(), datetime.date.today()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75320" y="1600200"/>
            <a:ext cx="3337560" cy="370332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A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187452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User-defined functions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6488" y="2377440"/>
            <a:ext cx="28163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33"/>
                </a:solidFill>
              </a:rPr>
              <a:t>Created by the programmer using def.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76488" y="3154680"/>
            <a:ext cx="2926080" cy="132588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area(l, b): return l * 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Built-in vs Module Functions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Built-in functions are always ready; module functions require import.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507492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Built-in functions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input("Enter name: 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print(len(name))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print(type(name))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507492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Functions defined in a module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print(math.sqrt(49))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print(random.randint(1, 6))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Built-in: part of Python language environment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Module: grouped in files/libraries, so we import them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Both are called using parentheses: function_name(arguments)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4069080"/>
            <a:ext cx="48006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Module name acts like a namespace: math.sqrt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Importing avoids loading everything unnecessarily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Common modules: math, random, statistics, datetime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Creating a User-defined Function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A function definition starts with def, then the indented body.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5486400" cy="242316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function_name(parameter1, parameter2):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statement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statement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function_name(argument1, argument2)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29400" y="1325880"/>
            <a:ext cx="42519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47218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033"/>
                </a:solidFill>
              </a:rPr>
              <a:t>def - keyword to define a function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2075688"/>
            <a:ext cx="42519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21A6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22199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033"/>
                </a:solidFill>
              </a:rPr>
              <a:t>name - identifier of the function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2825496"/>
            <a:ext cx="42519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6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297180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033"/>
                </a:solidFill>
              </a:rPr>
              <a:t>parameters - variables listed in definition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3575304"/>
            <a:ext cx="42519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72160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033"/>
                </a:solidFill>
              </a:rPr>
              <a:t>body - indented statements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4325112"/>
            <a:ext cx="42519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A54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4471416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033"/>
                </a:solidFill>
              </a:rPr>
              <a:t>return - sends value back to caller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297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7141"/>
                </a:solidFill>
              </a:rPr>
              <a:t>Important: indentation is part of Python syntax.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Arguments and Parameters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Parameters are placeholders in definition; arguments are actual values during call.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571500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     # a and b are parameters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print(add(10, 20))  # 10 and 20 are arguments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EAF1FF"/>
          </a:solidFill>
          <a:ln w="12700">
            <a:solidFill>
              <a:srgbClr val="BFD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42048" y="17830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6BFE"/>
                </a:solidFill>
              </a:rPr>
              <a:t>Parameter = variable used in function definition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95160" y="27889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EAFBF4"/>
          </a:solidFill>
          <a:ln w="12700">
            <a:solidFill>
              <a:srgbClr val="B9E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42048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A67A"/>
                </a:solidFill>
              </a:rPr>
              <a:t>Argument = value passed while calling a function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953512" y="1874520"/>
            <a:ext cx="-713232" cy="0"/>
          </a:xfrm>
          <a:prstGeom prst="line">
            <a:avLst/>
          </a:prstGeom>
          <a:noFill/>
          <a:ln w="25400">
            <a:solidFill>
              <a:srgbClr val="F6B84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901952" y="16002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6B84B"/>
                </a:solidFill>
              </a:rPr>
              <a:t>parameters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49040" y="2880360"/>
            <a:ext cx="-859536" cy="0"/>
          </a:xfrm>
          <a:prstGeom prst="line">
            <a:avLst/>
          </a:prstGeom>
          <a:noFill/>
          <a:ln w="25400">
            <a:solidFill>
              <a:srgbClr val="21A67A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514600" y="3063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1A67A"/>
                </a:solidFill>
              </a:rPr>
              <a:t>arguments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68680" y="4343400"/>
            <a:ext cx="98755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The number and order of arguments should match the function definition, unless defaults are used.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Good parameter names make functions easier to understand.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Positional Parameters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Values are matched with parameters by their position.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4846320" cy="228600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simple_interest(p, r, t):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(p * r * t) / 100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= simple_interest(10000, 8, 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print(si)  # 1600.0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1828800"/>
            <a:ext cx="1965960" cy="0"/>
          </a:xfrm>
          <a:prstGeom prst="line">
            <a:avLst/>
          </a:prstGeom>
          <a:noFill/>
          <a:ln w="2540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606040"/>
            <a:ext cx="1965960" cy="0"/>
          </a:xfrm>
          <a:prstGeom prst="line">
            <a:avLst/>
          </a:prstGeom>
          <a:noFill/>
          <a:ln w="25400">
            <a:solidFill>
              <a:srgbClr val="21A67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0" y="3383280"/>
            <a:ext cx="1965960" cy="0"/>
          </a:xfrm>
          <a:prstGeom prst="line">
            <a:avLst/>
          </a:prstGeom>
          <a:noFill/>
          <a:ln w="25400">
            <a:solidFill>
              <a:srgbClr val="F6B84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1572768"/>
            <a:ext cx="8686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70992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BFE"/>
                </a:solidFill>
              </a:rPr>
              <a:t>10000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23960" y="1572768"/>
            <a:ext cx="8686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25712" y="17007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6BFE"/>
                </a:solidFill>
              </a:rPr>
              <a:t>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350008"/>
            <a:ext cx="8686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21A6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48716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A67A"/>
                </a:solidFill>
              </a:rPr>
              <a:t>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23960" y="2350008"/>
            <a:ext cx="8686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21A6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5712" y="247802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67A"/>
                </a:solidFill>
              </a:rPr>
              <a:t>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89320" y="3127248"/>
            <a:ext cx="8686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6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26440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B84B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23960" y="3127248"/>
            <a:ext cx="8686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6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5712" y="3255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84B"/>
                </a:solidFill>
              </a:rPr>
              <a:t>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4343400"/>
            <a:ext cx="4663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033"/>
                </a:solidFill>
              </a:rPr>
              <a:t>Rule: first argument goes to first parameter, second to second, and so on.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Default Parameters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A default value is used when the caller does not provide that argument.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214884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greet(name, message="Good morning"):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print(message, name)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greet("Aman")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greet("Riya", "Welcome")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146304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FFF6E1"/>
          </a:solidFill>
          <a:ln w="12700">
            <a:solidFill>
              <a:srgbClr val="F6D8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7190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A6700"/>
                </a:solidFill>
              </a:rPr>
              <a:t>greet("Aman") -&gt; message uses default value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60604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EAFBF4"/>
          </a:solidFill>
          <a:ln w="12700">
            <a:solidFill>
              <a:srgbClr val="B9E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8620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A67A"/>
                </a:solidFill>
              </a:rPr>
              <a:t>greet("Riya", "Welcome") -&gt; default is replaced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1024128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Default parameters make functions flexible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Default parameters are written after non-default parameters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Example: def power(base, exp=2):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 Returning Value(s)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return sends result back; Python can return multiple values as a tuple.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5486400" cy="274320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area_perimeter(l, b):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area = l * 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 = 2 * (l + b)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area, peri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p = area_perimeter(5, 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print(a, p)  # 15 16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03720" y="132588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 w="12700">
            <a:solidFill>
              <a:srgbClr val="BFD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55448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6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area, peri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0" y="2057400"/>
            <a:ext cx="0" cy="731520"/>
          </a:xfrm>
          <a:prstGeom prst="line">
            <a:avLst/>
          </a:prstGeom>
          <a:noFill/>
          <a:ln w="25400">
            <a:solidFill>
              <a:srgbClr val="5C647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03720" y="278892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F1EDFF"/>
          </a:solidFill>
          <a:ln w="12700">
            <a:solidFill>
              <a:srgbClr val="CEC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302666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15,  p = 16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96926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A function without return gives None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return also stops function execution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82033"/>
                </a:solidFill>
              </a:rPr>
              <a:t>Multiple values can be unpacked into variables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 of Execution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Python executes top to bottom, but function body runs only when called.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65960" y="1847088"/>
            <a:ext cx="1325880" cy="0"/>
          </a:xfrm>
          <a:prstGeom prst="line">
            <a:avLst/>
          </a:prstGeom>
          <a:noFill/>
          <a:ln w="25400">
            <a:solidFill>
              <a:srgbClr val="5C647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15968" y="1847088"/>
            <a:ext cx="1307592" cy="0"/>
          </a:xfrm>
          <a:prstGeom prst="line">
            <a:avLst/>
          </a:prstGeom>
          <a:noFill/>
          <a:ln w="25400">
            <a:solidFill>
              <a:srgbClr val="5C647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01968" y="1847088"/>
            <a:ext cx="1307592" cy="0"/>
          </a:xfrm>
          <a:prstGeom prst="line">
            <a:avLst/>
          </a:prstGeom>
          <a:noFill/>
          <a:ln w="25400">
            <a:solidFill>
              <a:srgbClr val="5C647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887968" y="1847088"/>
            <a:ext cx="1307592" cy="0"/>
          </a:xfrm>
          <a:prstGeom prst="line">
            <a:avLst/>
          </a:prstGeom>
          <a:noFill/>
          <a:ln w="25400">
            <a:solidFill>
              <a:srgbClr val="5C647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132588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149047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BFE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15087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</a:rPr>
              <a:t>Define function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6968" y="1920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474"/>
                </a:solidFill>
              </a:rPr>
              <a:t>Python stores function object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017520" y="132588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21A6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149047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A67A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56432" y="15087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</a:rPr>
              <a:t>Main program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72968" y="1920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474"/>
                </a:solidFill>
              </a:rPr>
              <a:t>Statements run normally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303520" y="132588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6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49047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B84B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742432" y="15087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</a:rPr>
              <a:t>Function call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58968" y="1920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474"/>
                </a:solidFill>
              </a:rPr>
              <a:t>Control jumps to function body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589520" y="132588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17536" y="149047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C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28432" y="15087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</a:rPr>
              <a:t>Return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44968" y="1920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474"/>
                </a:solidFill>
              </a:rPr>
              <a:t>Control comes back to caller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875520" y="132588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A54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03536" y="149047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455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314432" y="15087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</a:rPr>
              <a:t>Continue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30968" y="1920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474"/>
                </a:solidFill>
              </a:rPr>
              <a:t>Next statement executes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880360" y="3703320"/>
            <a:ext cx="5943600" cy="182880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double(x):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* 2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print("Start")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double(10)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print("End")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of a Variable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Scope decides where a variable can be accessed.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5852160" cy="361188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          # global variable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demo():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5       # local variable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   # allowed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print(y)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     # allowed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print(y)     # error: y is local to demo()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95160" y="141732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EAF1FF"/>
          </a:solidFill>
          <a:ln w="12700">
            <a:solidFill>
              <a:srgbClr val="BFD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42048" y="16916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6BFE"/>
                </a:solidFill>
              </a:rPr>
              <a:t>Global Scope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242048" y="2057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2033"/>
                </a:solidFill>
              </a:rPr>
              <a:t>Variable created outside all functions. Accessible in the main program and inside functions for reading.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95160" y="306324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EAFBF4"/>
          </a:solidFill>
          <a:ln w="12700">
            <a:solidFill>
              <a:srgbClr val="B9E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42048" y="3337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A67A"/>
                </a:solidFill>
              </a:rPr>
              <a:t>Local Scope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242048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2033"/>
                </a:solidFill>
              </a:rPr>
              <a:t>Variable created inside a function. It exists only while that function is running.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Function Writing Habits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CBSE exam answers become clearer when functions are simple and well-named.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819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BFE"/>
                </a:solidFill>
              </a:rPr>
              <a:t>Use meaningful names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89280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474"/>
                </a:solidFill>
              </a:rPr>
              <a:t>calculate_grade() is better than cg()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21A6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5819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A67A"/>
                </a:solidFill>
              </a:rPr>
              <a:t>Keep one clear purpose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89280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474"/>
                </a:solidFill>
              </a:rPr>
              <a:t>One function should do one main task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6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077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B84B"/>
                </a:solidFill>
              </a:rPr>
              <a:t>Return, do not only print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21868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474"/>
                </a:solidFill>
              </a:rPr>
              <a:t>Return values are reusable by other 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274320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9077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CFF"/>
                </a:solidFill>
              </a:rPr>
              <a:t>Avoid unnecessary globals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21868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474"/>
                </a:solidFill>
              </a:rPr>
              <a:t>Prefer parameters and return values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06908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A54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233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455"/>
                </a:solidFill>
              </a:rPr>
              <a:t>Test with sample inputs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54456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474"/>
                </a:solidFill>
              </a:rPr>
              <a:t>Trace values step by step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84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Python Functions | Class 12 CBSE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0058400" y="668426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C6474"/>
                </a:solidFill>
              </a:rPr>
              <a:t>Jay Ram Singh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Practice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474"/>
                </a:solidFill>
              </a:rPr>
              <a:t>Try these in class or as homework.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55778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Write a function cube(n) that returns the cube of n.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Write a function max_of_two(a, b) that returns the greater value.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Write simple_interest(p, r=5, t=1) using default parameters.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Trace the output of a program with global and local variables.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82033"/>
                </a:solidFill>
              </a:rPr>
              <a:t>Modify area_perimeter() to return area and diagonal of a rectangle.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0840" y="1554480"/>
            <a:ext cx="4251960" cy="2286000"/>
          </a:xfrm>
          <a:prstGeom prst="roundRect">
            <a:avLst/>
          </a:prstGeom>
          <a:solidFill>
            <a:srgbClr val="111827"/>
          </a:solidFill>
          <a:ln>
            <a:solidFill>
              <a:srgbClr val="26324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Starter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__________(__________):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write logic here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__________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print(__________)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2280" y="43891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7141"/>
                </a:solidFill>
              </a:rPr>
              <a:t>Exam Tip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2280" y="4800600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33"/>
                </a:solidFill>
              </a:rPr>
              <a:t>When asked to trace, write the call sequence and variable values after each statement.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77240" y="1645920"/>
            <a:ext cx="3154680" cy="914400"/>
          </a:xfrm>
          <a:prstGeom prst="roundRect">
            <a:avLst>
              <a:gd name="adj" fmla="val 12000"/>
            </a:avLst>
          </a:prstGeom>
          <a:solidFill>
            <a:srgbClr val="1A2C52"/>
          </a:solidFill>
          <a:ln w="12700">
            <a:solidFill>
              <a:srgbClr val="3551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8408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B6D9"/>
                </a:solidFill>
              </a:rPr>
              <a:t>3 types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78408" y="21671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7FF"/>
                </a:solidFill>
              </a:rPr>
              <a:t>Built-in, module, user-defined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26280" y="1645920"/>
            <a:ext cx="3154680" cy="914400"/>
          </a:xfrm>
          <a:prstGeom prst="roundRect">
            <a:avLst>
              <a:gd name="adj" fmla="val 12000"/>
            </a:avLst>
          </a:prstGeom>
          <a:solidFill>
            <a:srgbClr val="1A2C52"/>
          </a:solidFill>
          <a:ln w="12700">
            <a:solidFill>
              <a:srgbClr val="3551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7448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B6D9"/>
                </a:solidFill>
              </a:rPr>
              <a:t>def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27448" y="21671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7FF"/>
                </a:solidFill>
              </a:rPr>
              <a:t>Creates a reusable code block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75320" y="1645920"/>
            <a:ext cx="3154680" cy="914400"/>
          </a:xfrm>
          <a:prstGeom prst="roundRect">
            <a:avLst>
              <a:gd name="adj" fmla="val 12000"/>
            </a:avLst>
          </a:prstGeom>
          <a:solidFill>
            <a:srgbClr val="1A2C52"/>
          </a:solidFill>
          <a:ln w="12700">
            <a:solidFill>
              <a:srgbClr val="3551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76488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B6D9"/>
                </a:solidFill>
              </a:rPr>
              <a:t>Arguments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76488" y="21671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7FF"/>
                </a:solidFill>
              </a:rPr>
              <a:t>Actual values passed to parameters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3154680" cy="914400"/>
          </a:xfrm>
          <a:prstGeom prst="roundRect">
            <a:avLst>
              <a:gd name="adj" fmla="val 12000"/>
            </a:avLst>
          </a:prstGeom>
          <a:solidFill>
            <a:srgbClr val="1A2C52"/>
          </a:solidFill>
          <a:ln w="12700">
            <a:solidFill>
              <a:srgbClr val="3551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B6D9"/>
                </a:solidFill>
              </a:rPr>
              <a:t>Default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8408" y="37673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7FF"/>
                </a:solidFill>
              </a:rPr>
              <a:t>Used when argument is missing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26280" y="3246120"/>
            <a:ext cx="3154680" cy="914400"/>
          </a:xfrm>
          <a:prstGeom prst="roundRect">
            <a:avLst>
              <a:gd name="adj" fmla="val 12000"/>
            </a:avLst>
          </a:prstGeom>
          <a:solidFill>
            <a:srgbClr val="1A2C52"/>
          </a:solidFill>
          <a:ln w="12700">
            <a:solidFill>
              <a:srgbClr val="3551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B6D9"/>
                </a:solidFill>
              </a:rPr>
              <a:t>return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27448" y="37673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7FF"/>
                </a:solidFill>
              </a:rPr>
              <a:t>Sends result back to caller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75320" y="3246120"/>
            <a:ext cx="3154680" cy="914400"/>
          </a:xfrm>
          <a:prstGeom prst="roundRect">
            <a:avLst>
              <a:gd name="adj" fmla="val 12000"/>
            </a:avLst>
          </a:prstGeom>
          <a:solidFill>
            <a:srgbClr val="1A2C52"/>
          </a:solidFill>
          <a:ln w="12700">
            <a:solidFill>
              <a:srgbClr val="3551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6488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B6D9"/>
                </a:solidFill>
              </a:rPr>
              <a:t>Scope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76488" y="37673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7FF"/>
                </a:solidFill>
              </a:rPr>
              <a:t>Global outside functions, local inside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5623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Thank You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509760" y="5742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3D1EA"/>
                </a:solidFill>
              </a:rPr>
              <a:t>Jay Ram Singh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Altmatic Technologies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Functions</dc:title>
  <dc:subject>CBSE Class 12 Computer Science - Python Functions</dc:subject>
  <dc:creator>Jay Ram Singh</dc:creator>
  <cp:lastModifiedBy>Jay Ram Singh</cp:lastModifiedBy>
  <cp:revision>1</cp:revision>
  <dcterms:created xsi:type="dcterms:W3CDTF">2026-05-29T06:40:41Z</dcterms:created>
  <dcterms:modified xsi:type="dcterms:W3CDTF">2026-05-29T06:40:41Z</dcterms:modified>
</cp:coreProperties>
</file>